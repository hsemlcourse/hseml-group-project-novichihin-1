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increase</c:v>
                </c:pt>
              </c:strCache>
            </c:strRef>
          </c:tx>
          <c:spPr>
            <a:solidFill>
              <a:srgbClr val="0096D6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conversions</c:v>
                </c:pt>
                <c:pt idx="1">
                  <c:v>industry_vert.</c:v>
                </c:pt>
                <c:pt idx="2">
                  <c:v>income_bracket</c:v>
                </c:pt>
                <c:pt idx="3">
                  <c:v>creative_age</c:v>
                </c:pt>
                <c:pt idx="4">
                  <c:v>clicks</c:v>
                </c:pt>
                <c:pt idx="5">
                  <c:v>avg_session_dur</c:v>
                </c:pt>
                <c:pt idx="6">
                  <c:v>campaign_obj.</c:v>
                </c:pt>
                <c:pt idx="7">
                  <c:v>hour_of_day</c:v>
                </c:pt>
                <c:pt idx="8">
                  <c:v>CTR</c:v>
                </c:pt>
                <c:pt idx="9">
                  <c:v>creative_emot.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76500</c:v>
                </c:pt>
                <c:pt idx="1">
                  <c:v>7514</c:v>
                </c:pt>
                <c:pt idx="2">
                  <c:v>4786</c:v>
                </c:pt>
                <c:pt idx="3">
                  <c:v>661</c:v>
                </c:pt>
                <c:pt idx="4">
                  <c:v>543</c:v>
                </c:pt>
                <c:pt idx="5">
                  <c:v>296</c:v>
                </c:pt>
                <c:pt idx="6">
                  <c:v>289</c:v>
                </c:pt>
                <c:pt idx="7">
                  <c:v>277</c:v>
                </c:pt>
                <c:pt idx="8">
                  <c:v>231</c:v>
                </c:pt>
                <c:pt idx="9">
                  <c:v>226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189-0749-B1B7-09DD78633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BBBBBB"/>
                </a:solidFill>
              </a:defRPr>
            </a:pPr>
            <a:endParaRPr lang="ru-RU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Предсказание прибыли</a:t>
            </a:r>
            <a:br/>
            <a:r>
              <a:t>digital-рекламной 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D6"/>
                </a:solidFill>
                <a:latin typeface="Calibri"/>
              </a:defRPr>
            </a:pPr>
            <a:r>
              <a:t>ML-регрессия: таргетинг + креатив + аукцион →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Новичихин Степан Алексеевич  |  БИВ232</a:t>
            </a:r>
            <a:br/>
            <a:r>
              <a:t>МИЭМ НИУ ВШЭ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Задача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Цель: предсказать profit кампании до/во время запуска → оптимизация бюджета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Задача: регрессия (profit = revenue − ad_spend, может быть &lt; 0)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Датасет: Kaggle — 10 000 строк, 41 колонка (после очистки ~35 фичей)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Метрика: RMSE (primary) — штрафует крупные ошибки сильнее. MAE, R² — вспомогательные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MAPE / RMSLE не применимы — profit принимает отрицательные значения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Контроль leakage: revenue, ad_spend, ROAS, CPA, CPC удалены (реконструируют таргет)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Сплит: time-based 70/15/15 — модель не «видит будущее» при обучении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Признаки и Feature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Группа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Примеры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Обработка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Категориальные (17)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platform, device_type, industry_vertical, income_bracket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OneHotEncoder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Числовые (13)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impressions, clicks, conversions, quality_score,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Imputer + StandardScaler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Булевы (2)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has_call_to_action, retargeting_flag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Imputer (most_frequent)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Дата (1 →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start_date → month, dayofweek, weekofyear, is_weekend, dayofyear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Imputer + 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Удалены (leakage)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revenue, ad_spend, ROAS, CPA, CPC, actual_cpc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Dropped (= profit)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Всё внутри sklearn Pipeline — статистики учатся только на train.</a:t>
            </a:r>
            <a:br/>
            <a:r>
              <a:t>Baseline (02_baseline.ipynb): без календарных фичей — проверяем вклад date 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Baseline и эксперименты CP1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(val)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(test)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(test)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(test)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Dummy (median)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73 946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127 486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32 116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−0.057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LinearRegression*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31 564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72 691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21 931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Ridge (α=100)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30 739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72 869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21 378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Lasso (α=10)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31 517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72 702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21 882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KNN (k=5)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40 106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79 389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21 424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RandomForest 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41 051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69 462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14 869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* LinearRegression — baseline без calendar FE.  RandomForest — лидер CP1 по RMSE test и MAE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Эксперименты CP2: бустинг, стэкинг, PCA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Эксперимент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(val)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(test)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(test)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exp01_rf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RandomForest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40 084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69 441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exp02_boost_tuned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30 876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79 368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exp03_tree_tuned 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GradientBoosting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26 778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64 019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exp04_stack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Stacking (RF+Boost→Ridge)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34 734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72 138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exp05_pca_boost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HistGradientBoosting+PCA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39 829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79 027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Подбор гиперпараметров: RandomizedSearchCV (5-fold) только на train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Выбор финальной модели: минимум RMSE на val → GradientBoostingRegressor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На test: RMSE 64 019 (−8% vs RF из CP1), R² 0.733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Интерпретируемость: Permutation Importance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6858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conversions — главный драйвер:</a:t>
            </a:r>
            <a:br/>
            <a:r>
              <a:t>  объём конверсий напрямую связан</a:t>
            </a:r>
            <a:br/>
            <a:r>
              <a:t>  с выручкой (но не утечка: это</a:t>
            </a:r>
            <a:br/>
            <a:r>
              <a:t>  наблюдаемый трафик, не cost)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industry_vertical, income_bracket —</a:t>
            </a:r>
            <a:br/>
            <a:r>
              <a:t>  отрасль и доход аудитории</a:t>
            </a:r>
            <a:br/>
            <a:r>
              <a:t>  определяют маржинальность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creative_age_days, clicks —</a:t>
            </a:r>
            <a:br/>
            <a:r>
              <a:t>  «свежесть» креатива и объём</a:t>
            </a:r>
            <a:br/>
            <a:r>
              <a:t>  трафика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Метод: sklearn permutation_importance,</a:t>
            </a:r>
            <a:br/>
            <a:r>
              <a:t>  n_repeats=5, scoring=neg_RMSE, на 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Сдвиг распределений и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Time-based split: val RMSE ≈ 27k, test RMSE ≈ 64k — разрыв из-за covariate shift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Календарные признаки (quarter, date_month, date_dayofyear) — наибольший сдвиг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Test-период попадает в «другой сезон» → модель экстраполирует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Ablation: random split 70/15/15 vs time split →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Random split даёт заниженный RMSE (модель «подглядывает» будущее)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Time split — честная оценка обобщения на production-данных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Вывод: time split — правильный выбор для задачи с временным порядком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Деплой: FastAPI + Streamlit +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ourier New"/>
              </a:defRPr>
            </a:pPr>
            <a:r>
              <a:t>┌─────────────────────┐</a:t>
            </a:r>
            <a:br/>
            <a:r>
              <a:t>│   Streamlit UI      │</a:t>
            </a:r>
            <a:br/>
            <a:r>
              <a:t>│   :8501             │</a:t>
            </a:r>
            <a:br/>
            <a:r>
              <a:t>│   форма ввода фичей │</a:t>
            </a:r>
            <a:br/>
            <a:r>
              <a:t>└─────────┬───────────┘</a:t>
            </a:r>
            <a:br/>
            <a:r>
              <a:t>          │ POST /predict</a:t>
            </a:r>
            <a:br/>
            <a:r>
              <a:t>          ▼</a:t>
            </a:r>
            <a:br/>
            <a:r>
              <a:t>┌─────────────────────┐</a:t>
            </a:r>
            <a:br/>
            <a:r>
              <a:t>│   FastAPI  :8000    │</a:t>
            </a:r>
            <a:br/>
            <a:r>
              <a:t>│   /health           │</a:t>
            </a:r>
            <a:br/>
            <a:r>
              <a:t>│   /model            │</a:t>
            </a:r>
            <a:br/>
            <a:r>
              <a:t>│   /predict          │</a:t>
            </a:r>
            <a:br/>
            <a:r>
              <a:t>│   /predict_batch    │</a:t>
            </a:r>
            <a:br/>
            <a:r>
              <a:t>└─────────┬───────────┘</a:t>
            </a:r>
            <a:br/>
            <a:r>
              <a:t>          │ joblib.load</a:t>
            </a:r>
            <a:br/>
            <a:r>
              <a:t>          ▼</a:t>
            </a:r>
            <a:br/>
            <a:r>
              <a:t>┌─────────────────────┐</a:t>
            </a:r>
            <a:br/>
            <a:r>
              <a:t>│  final_cp2.joblib   │</a:t>
            </a:r>
            <a:br/>
            <a:r>
              <a:t>│  Pipeline: prep →   │</a:t>
            </a:r>
            <a:br/>
            <a:r>
              <a:t>│  OHE → GBR         │</a:t>
            </a:r>
            <a:br/>
            <a:r>
              <a:t>└─────────────────────┘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docker compose up — поднимает оба сервиса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Модель загружается 1 раз при старте (lifespan)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Pydantic-схема: 33 признака, без leakage-колонок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Swagger UI: localhost:8000/docs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Streamlit UI: localhost:8501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Препроцессинг не дублируется — всё внутри Pipeline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OneHotEncoder(handle_unknown='ignore') → устойчив к новым категориям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Тесты: 7 smoke-тестов через TestClient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/health → 200, /predict → 200 (число)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/predict (missing field) → 422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sanity: API == pipe.predict()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Качество кода и воспроизводимость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Реализация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42 — фиксирован в src/config.py, вызывается set_seed() в каждом ноутбуке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Линтер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ruff check src/ --line-length 120 — CI + локально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Тесты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pytest — 17 тестов (10 pipeline + 7 API), все зелёные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docker-compose.yml — два сервиса (api, ui), воспроизводимый образ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requirements.txt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Pin-версии всех зависимостей (sklearn 1.4.2, fastapi 0.115.12, ...)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.github/workflows/ci.yml — ruff + pytest на каждый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Структура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src/ (config, preprocessing, modeling, api/, ui/) + tests/ + notebooks/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Документация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README.md — быстрый старт, структура, деплой, примеры curl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Итоги и что можно улучшить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Финальная модель: GradientBoostingRegressor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Test RMSE: 64 019  |  R²: 0.733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Улучшение vs CP1 RF: −8% RMSE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Деплой: FastAPI + Streamlit + Docker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17 тестов, ruff, CI — всё зелёное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Отчёт: 8 разделов +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Что улучшить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Квантильная регрессия — оценка неопределённости</a:t>
            </a:r>
          </a:p>
          <a:p>
            <a:pPr>
              <a:spcAft>
                <a:spcPts val="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Монотонные ограничения в бустинге</a:t>
            </a:r>
            <a:br/>
            <a:r>
              <a:t>  (conversions ↑ → profit ↑)</a:t>
            </a:r>
          </a:p>
          <a:p>
            <a:pPr>
              <a:spcAft>
                <a:spcPts val="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Переобучение на новых данных через API</a:t>
            </a:r>
          </a:p>
          <a:p>
            <a:pPr>
              <a:spcAft>
                <a:spcPts val="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Мониторинг data drift в production</a:t>
            </a:r>
          </a:p>
          <a:p>
            <a:pPr>
              <a:spcAft>
                <a:spcPts val="600"/>
              </a:spcAft>
              <a:defRPr sz="1700">
                <a:solidFill>
                  <a:srgbClr val="BBBBBB"/>
                </a:solidFill>
                <a:latin typeface="Calibri"/>
              </a:defRPr>
            </a:pPr>
            <a:r>
              <a:t>Target encoding для high-cardinality фичей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D6"/>
                </a:solidFill>
                <a:latin typeface="Calibri"/>
              </a:defRPr>
            </a:pP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1104</Words>
  <Application>Microsoft Macintosh PowerPoint</Application>
  <PresentationFormat>Широкоэкранный</PresentationFormat>
  <Paragraphs>167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Stepan N</cp:lastModifiedBy>
  <cp:revision>2</cp:revision>
  <dcterms:created xsi:type="dcterms:W3CDTF">2013-01-27T09:14:16Z</dcterms:created>
  <dcterms:modified xsi:type="dcterms:W3CDTF">2026-05-17T09:22:11Z</dcterms:modified>
  <cp:category/>
</cp:coreProperties>
</file>